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22"/>
  </p:notesMasterIdLst>
  <p:handoutMasterIdLst>
    <p:handoutMasterId r:id="rId23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0" r:id="rId11"/>
    <p:sldId id="341" r:id="rId12"/>
    <p:sldId id="342" r:id="rId13"/>
    <p:sldId id="343" r:id="rId14"/>
    <p:sldId id="344" r:id="rId15"/>
    <p:sldId id="345" r:id="rId16"/>
    <p:sldId id="346" r:id="rId17"/>
    <p:sldId id="347" r:id="rId18"/>
    <p:sldId id="348" r:id="rId19"/>
    <p:sldId id="349" r:id="rId20"/>
    <p:sldId id="304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78028E5-F84B-4094-9940-F8556A92FB09}" v="388" dt="2026-10-23T06:54:51.102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69" d="100"/>
          <a:sy n="69" d="100"/>
        </p:scale>
        <p:origin x="484" y="44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10/22/2026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10/22/2026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10/22/2026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10/22/2026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10/22/2026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10/22/2026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10/22/2026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10/22/2026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928" y="2826930"/>
            <a:ext cx="9829512" cy="743448"/>
          </a:xfrm>
        </p:spPr>
        <p:txBody>
          <a:bodyPr>
            <a:normAutofit/>
          </a:bodyPr>
          <a:lstStyle/>
          <a:p>
            <a:r>
              <a:rPr lang="en-GB" sz="3200" b="1" u="sng" dirty="0"/>
              <a:t>Healthcare Analytics for Doctor Visits</a:t>
            </a:r>
            <a:endParaRPr lang="en-IN" sz="3200" b="1" u="sng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563592" y="3556001"/>
            <a:ext cx="6547064" cy="1436591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Name : </a:t>
            </a:r>
            <a:r>
              <a:rPr lang="en-US" b="0">
                <a:solidFill>
                  <a:schemeClr val="tx1"/>
                </a:solidFill>
              </a:rPr>
              <a:t>K. Harjith</a:t>
            </a:r>
          </a:p>
          <a:p>
            <a:r>
              <a:rPr lang="en-US">
                <a:solidFill>
                  <a:schemeClr val="tx1"/>
                </a:solidFill>
              </a:rPr>
              <a:t>College</a:t>
            </a:r>
            <a:r>
              <a:rPr lang="en-US" dirty="0">
                <a:solidFill>
                  <a:schemeClr val="tx1"/>
                </a:solidFill>
              </a:rPr>
              <a:t> : </a:t>
            </a:r>
            <a:r>
              <a:rPr lang="en-US" b="0" dirty="0">
                <a:solidFill>
                  <a:schemeClr val="tx1"/>
                </a:solidFill>
              </a:rPr>
              <a:t>A.V.C College Of Engineering</a:t>
            </a:r>
            <a:endParaRPr lang="en-GB" b="0">
              <a:solidFill>
                <a:schemeClr val="tx1"/>
              </a:solidFill>
            </a:endParaRPr>
          </a:p>
          <a:p>
            <a:r>
              <a:rPr lang="en-US">
                <a:solidFill>
                  <a:schemeClr val="tx1"/>
                </a:solidFill>
              </a:rPr>
              <a:t>AICTE STU ID : </a:t>
            </a:r>
            <a:r>
              <a:rPr lang="en-US" b="0">
                <a:solidFill>
                  <a:schemeClr val="tx1"/>
                </a:solidFill>
              </a:rPr>
              <a:t>STU6a1881c5a398a1779990981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58933" y="2019330"/>
            <a:ext cx="6431280" cy="3607987"/>
          </a:xfrm>
        </p:spPr>
        <p:txBody>
          <a:bodyPr vert="horz" wrap="square" lIns="91440" tIns="45720" rIns="91440" bIns="45720" rtlCol="0" anchor="t">
            <a:normAutofit/>
          </a:bodyPr>
          <a:lstStyle/>
          <a:p>
            <a:pPr>
              <a:defRPr sz="1800">
                <a:solidFill>
                  <a:srgbClr val="2C3C43"/>
                </a:solidFill>
              </a:defRPr>
            </a:pPr>
            <a:r>
              <a:rPr dirty="0">
                <a:solidFill>
                  <a:schemeClr val="tx1"/>
                </a:solidFill>
              </a:rPr>
              <a:t>Doctor visits vary a great deal from person to person, but it isn't always clear why -- some people never see a doctor in a given period, while a small number visit many times. Raw patient records don't by themselves explain which factors -- age, income, illness, chronic conditions, or access to healthcare support -- are actually associated with how often someone visits a doctor. The problem this project addresses is to analyze a 5,190-patient healthcare dataset and identify meaningful patterns, relationships, and differences in doctor-visit behavior using exploratory data analysis.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76607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805213"/>
            <a:ext cx="6276109" cy="830997"/>
          </a:xfrm>
        </p:spPr>
        <p:txBody>
          <a:bodyPr>
            <a:normAutofit fontScale="90000"/>
          </a:bodyPr>
          <a:lstStyle/>
          <a:p>
            <a:r>
              <a:rPr lang="en-GB" dirty="0"/>
              <a:t>Project Description</a:t>
            </a:r>
            <a:br>
              <a:rPr lang="en-GB" dirty="0"/>
            </a:br>
            <a:br>
              <a:rPr lang="en-GB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78227" y="2207020"/>
            <a:ext cx="7904481" cy="255454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2000">
                <a:solidFill>
                  <a:srgbClr val="2C3C43"/>
                </a:solidFill>
              </a:defRPr>
            </a:pPr>
            <a:r>
              <a:t>This project analyzes a 5,190-record healthcare survey dataset covering demographics, income, illness and health indicators, healthcare support programs, and chronic conditions. Using Python (Pandas, Matplotlib, Seaborn) in a Jupyter Notebook, the workflow covers data cleaning, exploratory data analysis, and visualization to uncover which factors are most strongly associated with the number of doctor visits -- concluding with evidence-based recommendations for healthcare planning and outreach.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1359" y="1991360"/>
            <a:ext cx="7904481" cy="3990023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just">
              <a:lnSpc>
                <a:spcPct val="150000"/>
              </a:lnSpc>
            </a:pPr>
            <a:r>
              <a:rPr>
                <a:solidFill>
                  <a:schemeClr val="tx1"/>
                </a:solidFill>
              </a:rPr>
              <a:t>Healthcare policymakers and public health planners -- to allocate resources toward high-need patient groups</a:t>
            </a:r>
            <a:endParaRPr lang="en-IN" sz="3600">
              <a:solidFill>
                <a:schemeClr val="tx1"/>
              </a:solidFill>
            </a:endParaRPr>
          </a:p>
          <a:p>
            <a:r>
              <a:rPr>
                <a:solidFill>
                  <a:schemeClr val="tx1"/>
                </a:solidFill>
              </a:rPr>
              <a:t>Hospital and clinic administrators -- to anticipate patient load and staffing needs</a:t>
            </a:r>
          </a:p>
          <a:p>
            <a:r>
              <a:rPr>
                <a:solidFill>
                  <a:schemeClr val="tx1"/>
                </a:solidFill>
              </a:rPr>
              <a:t>Health insurance providers -- to understand how coverage relates to patient visit patterns</a:t>
            </a:r>
          </a:p>
          <a:p>
            <a:r>
              <a:rPr>
                <a:solidFill>
                  <a:schemeClr val="tx1"/>
                </a:solidFill>
              </a:rPr>
              <a:t>Public healthcare support programs -- to evaluate whether targeted programs reach the right patients</a:t>
            </a:r>
          </a:p>
          <a:p>
            <a:r>
              <a:rPr>
                <a:solidFill>
                  <a:schemeClr val="tx1"/>
                </a:solidFill>
              </a:rPr>
              <a:t>Healthcare researchers -- to study the relationship between chronic conditions, income, and care-seeking behavior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050000" y="1432560"/>
            <a:ext cx="7368320" cy="524344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>
                <a:solidFill>
                  <a:schemeClr val="tx1"/>
                </a:solidFill>
              </a:rPr>
              <a:t>Python 3 -- core programming language for the analysis</a:t>
            </a:r>
            <a:endParaRPr lang="en-IN">
              <a:solidFill>
                <a:schemeClr val="tx1"/>
              </a:solidFill>
            </a:endParaRPr>
          </a:p>
          <a:p>
            <a:r>
              <a:rPr>
                <a:solidFill>
                  <a:schemeClr val="tx1"/>
                </a:solidFill>
              </a:rPr>
              <a:t>Pandas &amp; NumPy -- data cleaning, transformation, and aggregation</a:t>
            </a:r>
          </a:p>
          <a:p>
            <a:r>
              <a:rPr>
                <a:solidFill>
                  <a:schemeClr val="tx1"/>
                </a:solidFill>
              </a:rPr>
              <a:t>Matplotlib &amp; Seaborn -- statistical visualization (box plots, heatmaps, scatter plots, bar charts)</a:t>
            </a:r>
          </a:p>
          <a:p>
            <a:r>
              <a:rPr>
                <a:solidFill>
                  <a:schemeClr val="tx1"/>
                </a:solidFill>
              </a:rPr>
              <a:t>Jupyter Notebook -- interactive environment documenting the full analysis workflow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8890736" cy="902883"/>
          </a:xfrm>
        </p:spPr>
        <p:txBody>
          <a:bodyPr>
            <a:noAutofit/>
          </a:bodyPr>
          <a:lstStyle/>
          <a:p>
            <a:r>
              <a:rPr lang="en-GB" sz="3600" dirty="0"/>
              <a:t>Results: Distribution of Visits, Age &amp; Income</a:t>
            </a:r>
            <a:endParaRPr lang="en-IN" sz="360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19D8AC7-3787-4ADB-9212-0808F015C2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77767" y="1604221"/>
            <a:ext cx="9500000" cy="47752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300" b="1" i="1" dirty="0">
                <a:solidFill>
                  <a:srgbClr val="7030A0"/>
                </a:solidFill>
              </a:rPr>
              <a:t>Univariate view of three key numeric variables</a:t>
            </a:r>
            <a:endParaRPr lang="en-IN" b="1">
              <a:solidFill>
                <a:srgbClr val="7030A0"/>
              </a:solidFill>
            </a:endParaRPr>
          </a:p>
        </p:txBody>
      </p:sp>
      <p:pic>
        <p:nvPicPr>
          <p:cNvPr id="31" name="Picture 30" descr="fig0_univari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992" y="2073084"/>
            <a:ext cx="11064240" cy="3044522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318602" y="5597106"/>
            <a:ext cx="11094719" cy="29238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sz="1300" b="1" i="1">
                <a:solidFill>
                  <a:srgbClr val="FF0000"/>
                </a:solidFill>
              </a:rPr>
              <a:t>About 80% of patients report zero visits; age clusters at the young and oldest ends, income skews low.</a:t>
            </a:r>
            <a:endParaRPr lang="en-US" sz="1300" b="1" i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9250171" cy="902883"/>
          </a:xfrm>
        </p:spPr>
        <p:txBody>
          <a:bodyPr>
            <a:noAutofit/>
          </a:bodyPr>
          <a:lstStyle/>
          <a:p>
            <a:r>
              <a:rPr lang="en-GB" sz="3600" dirty="0"/>
              <a:t>Results: Gender &amp; Healthcare Support Coverage</a:t>
            </a:r>
            <a:endParaRPr lang="en-IN" sz="360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19D8AC7-3787-4ADB-9212-0808F015C2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77768" y="1604221"/>
            <a:ext cx="9500000" cy="47752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300" b="1" i="1" dirty="0">
                <a:solidFill>
                  <a:srgbClr val="7030A0"/>
                </a:solidFill>
              </a:rPr>
              <a:t>How patients break down by gender and support program</a:t>
            </a:r>
            <a:endParaRPr lang="en-IN" b="1">
              <a:solidFill>
                <a:srgbClr val="7030A0"/>
              </a:solidFill>
            </a:endParaRPr>
          </a:p>
        </p:txBody>
      </p:sp>
      <p:pic>
        <p:nvPicPr>
          <p:cNvPr id="31" name="Picture 30" descr="fig1_categorical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754" y="2074365"/>
            <a:ext cx="10076869" cy="370332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60451" y="6014049"/>
            <a:ext cx="11094719" cy="29238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sz="1300" b="1" i="1">
                <a:solidFill>
                  <a:srgbClr val="FF0000"/>
                </a:solidFill>
              </a:rPr>
              <a:t>Private insurance is the most common coverage; free-care programs reach smaller, targeted groups.</a:t>
            </a:r>
            <a:endParaRPr lang="en-US" sz="1300" b="1" i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8919492" cy="902883"/>
          </a:xfrm>
        </p:spPr>
        <p:txBody>
          <a:bodyPr>
            <a:noAutofit/>
          </a:bodyPr>
          <a:lstStyle/>
          <a:p>
            <a:r>
              <a:rPr lang="en-GB" sz="3600" dirty="0"/>
              <a:t>Results: Visits vs Demographics &amp; Income</a:t>
            </a:r>
            <a:endParaRPr lang="en-IN" sz="360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19D8AC7-3787-4ADB-9212-0808F015C2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77768" y="1604221"/>
            <a:ext cx="9500000" cy="47752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300" b="1" i="1" dirty="0">
                <a:solidFill>
                  <a:srgbClr val="7030A0"/>
                </a:solidFill>
              </a:rPr>
              <a:t>Mean visits by gender, age group, and income band</a:t>
            </a:r>
            <a:endParaRPr lang="en-IN" b="1">
              <a:solidFill>
                <a:srgbClr val="7030A0"/>
              </a:solidFill>
            </a:endParaRPr>
          </a:p>
        </p:txBody>
      </p:sp>
      <p:pic>
        <p:nvPicPr>
          <p:cNvPr id="31" name="Picture 30" descr="fig2_demographi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464" y="2272047"/>
            <a:ext cx="11064240" cy="3049163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17319" y="5812766"/>
            <a:ext cx="11094719" cy="29238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sz="1300" b="1">
                <a:solidFill>
                  <a:srgbClr val="FF0000"/>
                </a:solidFill>
              </a:rPr>
              <a:t>Women, older patients, and lower-income patients average more visits.</a:t>
            </a:r>
            <a:endParaRPr lang="en-US" sz="1300"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8933869" cy="902883"/>
          </a:xfrm>
        </p:spPr>
        <p:txBody>
          <a:bodyPr>
            <a:normAutofit/>
          </a:bodyPr>
          <a:lstStyle/>
          <a:p>
            <a:r>
              <a:rPr lang="en-GB" sz="3600" dirty="0"/>
              <a:t>Results: Visits vs Health Indicators</a:t>
            </a:r>
            <a:endParaRPr lang="en-IN" sz="360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19D8AC7-3787-4ADB-9212-0808F015C2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77768" y="1129769"/>
            <a:ext cx="9500000" cy="47752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300" b="1" i="1" dirty="0">
                <a:solidFill>
                  <a:srgbClr val="7030A0"/>
                </a:solidFill>
              </a:rPr>
              <a:t>Mean visits by illness count, reduced-activity days, and health-score band</a:t>
            </a:r>
            <a:endParaRPr lang="en-IN" b="1">
              <a:solidFill>
                <a:srgbClr val="7030A0"/>
              </a:solidFill>
            </a:endParaRPr>
          </a:p>
        </p:txBody>
      </p:sp>
      <p:pic>
        <p:nvPicPr>
          <p:cNvPr id="31" name="Picture 30" descr="fig3_health_indicato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464" y="1898236"/>
            <a:ext cx="11064240" cy="3049163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46074" y="5395823"/>
            <a:ext cx="11094719" cy="29238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sz="1300" b="1" i="1">
                <a:solidFill>
                  <a:srgbClr val="FF0000"/>
                </a:solidFill>
              </a:rPr>
              <a:t>Mean visits climb steadily with illness count, reduced-activity days, and health score.</a:t>
            </a:r>
            <a:endParaRPr lang="en-US" sz="1300" b="1" i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9207039" cy="902883"/>
          </a:xfrm>
        </p:spPr>
        <p:txBody>
          <a:bodyPr>
            <a:normAutofit fontScale="90000"/>
          </a:bodyPr>
          <a:lstStyle/>
          <a:p>
            <a:r>
              <a:rPr lang="en-GB" sz="3600" dirty="0"/>
              <a:t>Results: Visits vs Healthcare Support &amp; Chronic Conditions</a:t>
            </a:r>
            <a:endParaRPr lang="en-IN" sz="360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19D8AC7-3787-4ADB-9212-0808F015C2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77768" y="1474825"/>
            <a:ext cx="9500000" cy="47752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300" b="1" i="1" dirty="0">
                <a:solidFill>
                  <a:srgbClr val="7030A0"/>
                </a:solidFill>
              </a:rPr>
              <a:t>Mean visits for patients with and without each support or chronic-condition flag</a:t>
            </a:r>
            <a:endParaRPr lang="en-IN" b="1">
              <a:solidFill>
                <a:srgbClr val="7030A0"/>
              </a:solidFill>
            </a:endParaRPr>
          </a:p>
        </p:txBody>
      </p:sp>
      <p:pic>
        <p:nvPicPr>
          <p:cNvPr id="31" name="Picture 30" descr="fig4_support_chron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7517" y="1944969"/>
            <a:ext cx="8266700" cy="370332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-127096" y="6014049"/>
            <a:ext cx="11094719" cy="29238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sz="1300" b="1" i="1" dirty="0">
                <a:solidFill>
                  <a:srgbClr val="FF0000"/>
                </a:solidFill>
              </a:rPr>
              <a:t>Long-term chronic and </a:t>
            </a:r>
            <a:r>
              <a:rPr sz="1300" b="1" i="1" dirty="0" err="1">
                <a:solidFill>
                  <a:srgbClr val="FF0000"/>
                </a:solidFill>
              </a:rPr>
              <a:t>freerepat</a:t>
            </a:r>
            <a:r>
              <a:rPr sz="1300" b="1" i="1" dirty="0">
                <a:solidFill>
                  <a:srgbClr val="FF0000"/>
                </a:solidFill>
              </a:rPr>
              <a:t> patients visit most; </a:t>
            </a:r>
            <a:r>
              <a:rPr sz="1300" b="1" i="1" dirty="0" err="1">
                <a:solidFill>
                  <a:srgbClr val="FF0000"/>
                </a:solidFill>
              </a:rPr>
              <a:t>freepoor</a:t>
            </a:r>
            <a:r>
              <a:rPr sz="1300" b="1" i="1" dirty="0">
                <a:solidFill>
                  <a:srgbClr val="FF0000"/>
                </a:solidFill>
              </a:rPr>
              <a:t> recipients visit least.</a:t>
            </a:r>
            <a:endParaRPr lang="en-US" sz="1300" b="1" i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0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8890737" cy="902883"/>
          </a:xfrm>
        </p:spPr>
        <p:txBody>
          <a:bodyPr>
            <a:noAutofit/>
          </a:bodyPr>
          <a:lstStyle/>
          <a:p>
            <a:r>
              <a:rPr lang="en-GB" sz="3600" dirty="0"/>
              <a:t>Results: Correlation Between Key Variables</a:t>
            </a:r>
            <a:endParaRPr lang="en-IN" sz="360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19D8AC7-3787-4ADB-9212-0808F015C2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77768" y="1604221"/>
            <a:ext cx="9500000" cy="47752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300" b="1" i="1" dirty="0">
                <a:solidFill>
                  <a:srgbClr val="7030A0"/>
                </a:solidFill>
              </a:rPr>
              <a:t>Multivariate relationships across numeric variables</a:t>
            </a:r>
            <a:endParaRPr lang="en-IN" b="1">
              <a:solidFill>
                <a:srgbClr val="7030A0"/>
              </a:solidFill>
            </a:endParaRPr>
          </a:p>
        </p:txBody>
      </p:sp>
      <p:pic>
        <p:nvPicPr>
          <p:cNvPr id="31" name="Picture 30" descr="fig5_correl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1230" y="2074365"/>
            <a:ext cx="4249160" cy="370332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-127096" y="6014049"/>
            <a:ext cx="11094719" cy="29238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sz="1300" b="1" i="1">
                <a:solidFill>
                  <a:srgbClr val="FF0000"/>
                </a:solidFill>
              </a:rPr>
              <a:t>Reduced-activity days (0.42), illness (0.22) and health score (0.19) outrank age (0.12) and income (-0.08).</a:t>
            </a:r>
            <a:endParaRPr lang="en-US" sz="1300" b="1" i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9077643" cy="902883"/>
          </a:xfrm>
        </p:spPr>
        <p:txBody>
          <a:bodyPr>
            <a:noAutofit/>
          </a:bodyPr>
          <a:lstStyle/>
          <a:p>
            <a:r>
              <a:rPr lang="en-GB" sz="3600" dirty="0"/>
              <a:t>Results: Illness &amp; Chronic Condition Interaction</a:t>
            </a:r>
            <a:endParaRPr lang="en-IN" sz="360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19D8AC7-3787-4ADB-9212-0808F015C2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92787" y="1604221"/>
            <a:ext cx="9500000" cy="47752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300" b="1" i="1" dirty="0">
                <a:solidFill>
                  <a:srgbClr val="7030A0"/>
                </a:solidFill>
              </a:rPr>
              <a:t>Does a chronic condition add to the illness-visits relationship?</a:t>
            </a:r>
            <a:endParaRPr lang="en-IN" b="1">
              <a:solidFill>
                <a:srgbClr val="7030A0"/>
              </a:solidFill>
            </a:endParaRPr>
          </a:p>
        </p:txBody>
      </p:sp>
      <p:pic>
        <p:nvPicPr>
          <p:cNvPr id="31" name="Picture 30" descr="fig6_illness_chronic_intera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6699" y="2074365"/>
            <a:ext cx="6129316" cy="370332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-342756" y="6014049"/>
            <a:ext cx="11094719" cy="29238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sz="1300" b="1" i="1">
                <a:solidFill>
                  <a:srgbClr val="FF0000"/>
                </a:solidFill>
              </a:rPr>
              <a:t>Once illness count is held constant, chronic-condition status adds little independent effect.</a:t>
            </a:r>
            <a:endParaRPr lang="en-US" sz="1300" b="1" i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694" y="370589"/>
            <a:ext cx="9293302" cy="902883"/>
          </a:xfrm>
        </p:spPr>
        <p:txBody>
          <a:bodyPr>
            <a:noAutofit/>
          </a:bodyPr>
          <a:lstStyle/>
          <a:p>
            <a:r>
              <a:rPr lang="en-GB" sz="3600" dirty="0"/>
              <a:t>Student Analysis 1: Chronic Conditions &amp; Healthcare Support</a:t>
            </a:r>
            <a:endParaRPr lang="en-IN" sz="360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19D8AC7-3787-4ADB-9212-0808F015C2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48372" y="1604221"/>
            <a:ext cx="9500000" cy="47752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300" b="1" i="1" dirty="0">
                <a:solidFill>
                  <a:srgbClr val="7030A0"/>
                </a:solidFill>
              </a:rPr>
              <a:t>Support-program coverage and visits across the three chronic-condition groups</a:t>
            </a:r>
            <a:endParaRPr lang="en-IN" b="1">
              <a:solidFill>
                <a:srgbClr val="7030A0"/>
              </a:solidFill>
            </a:endParaRPr>
          </a:p>
        </p:txBody>
      </p:sp>
      <p:pic>
        <p:nvPicPr>
          <p:cNvPr id="31" name="Picture 30" descr="fig7_student1_chronic_suppo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320" y="2218139"/>
            <a:ext cx="11009584" cy="370332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318602" y="6215332"/>
            <a:ext cx="11094719" cy="29238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sz="1300" b="1" i="1" dirty="0">
                <a:solidFill>
                  <a:srgbClr val="FF0000"/>
                </a:solidFill>
              </a:rPr>
              <a:t>The long-term chronic (</a:t>
            </a:r>
            <a:r>
              <a:rPr sz="1300" b="1" i="1" dirty="0" err="1">
                <a:solidFill>
                  <a:srgbClr val="FF0000"/>
                </a:solidFill>
              </a:rPr>
              <a:t>lchronic</a:t>
            </a:r>
            <a:r>
              <a:rPr sz="1300" b="1" i="1" dirty="0">
                <a:solidFill>
                  <a:srgbClr val="FF0000"/>
                </a:solidFill>
              </a:rPr>
              <a:t>) group has the highest mean visits of all three chronic groups.</a:t>
            </a:r>
            <a:endParaRPr lang="en-US" sz="1300" b="1" i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5353" y="370589"/>
            <a:ext cx="10213454" cy="902883"/>
          </a:xfrm>
        </p:spPr>
        <p:txBody>
          <a:bodyPr>
            <a:noAutofit/>
          </a:bodyPr>
          <a:lstStyle/>
          <a:p>
            <a:r>
              <a:rPr lang="en-GB" sz="3600" dirty="0"/>
              <a:t>Student Analysis 2: Income &amp; Private Insurance</a:t>
            </a:r>
            <a:endParaRPr lang="en-IN" sz="360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19D8AC7-3787-4ADB-9212-0808F015C2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632976"/>
            <a:ext cx="9500000" cy="47752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300" b="1" i="1" dirty="0">
                <a:solidFill>
                  <a:srgbClr val="7030A0"/>
                </a:solidFill>
              </a:rPr>
              <a:t>Private insurance rate and mean visits across income bands</a:t>
            </a:r>
            <a:endParaRPr lang="en-IN" b="1">
              <a:solidFill>
                <a:srgbClr val="7030A0"/>
              </a:solidFill>
            </a:endParaRPr>
          </a:p>
        </p:txBody>
      </p:sp>
      <p:pic>
        <p:nvPicPr>
          <p:cNvPr id="31" name="Picture 30" descr="fig8_student2_income_insur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519" y="2103120"/>
            <a:ext cx="10217148" cy="370332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-83964" y="5999672"/>
            <a:ext cx="11094719" cy="29238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sz="1300" i="1">
                <a:solidFill>
                  <a:srgbClr val="FF0000"/>
                </a:solidFill>
              </a:rPr>
              <a:t>Private insurance rises from 27% to 68% with income, yet lower-income patients visit more.</a:t>
            </a:r>
            <a:endParaRPr lang="en-US" sz="1300" i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9868397" cy="902883"/>
          </a:xfrm>
        </p:spPr>
        <p:txBody>
          <a:bodyPr>
            <a:noAutofit/>
          </a:bodyPr>
          <a:lstStyle/>
          <a:p>
            <a:r>
              <a:rPr lang="en-GB" sz="3600" dirty="0"/>
              <a:t>Student Analysis 3: Health Status vs Visits Across Age Groups</a:t>
            </a:r>
            <a:endParaRPr lang="en-IN" sz="360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19D8AC7-3787-4ADB-9212-0808F015C2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77768" y="1604221"/>
            <a:ext cx="9500000" cy="47752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300" b="1" i="1" dirty="0">
                <a:solidFill>
                  <a:srgbClr val="7030A0"/>
                </a:solidFill>
              </a:rPr>
              <a:t>Average visits by age group and health-score band</a:t>
            </a:r>
            <a:endParaRPr lang="en-IN" b="1">
              <a:solidFill>
                <a:srgbClr val="7030A0"/>
              </a:solidFill>
            </a:endParaRPr>
          </a:p>
        </p:txBody>
      </p:sp>
      <p:pic>
        <p:nvPicPr>
          <p:cNvPr id="31" name="Picture 30" descr="fig9_student3_health_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6800" y="2074365"/>
            <a:ext cx="6230399" cy="370332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-730945" y="6014049"/>
            <a:ext cx="11094719" cy="29238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sz="1300" b="1" i="1">
                <a:solidFill>
                  <a:srgbClr val="FF0000"/>
                </a:solidFill>
              </a:rPr>
              <a:t>Visits climb fastest with worsening health among the oldest patients (61-72).</a:t>
            </a:r>
            <a:endParaRPr lang="en-US" sz="1300" b="1" i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1509704"/>
            <a:ext cx="6276109" cy="830997"/>
          </a:xfrm>
        </p:spPr>
        <p:txBody>
          <a:bodyPr>
            <a:normAutofit fontScale="90000"/>
          </a:bodyPr>
          <a:lstStyle/>
          <a:p>
            <a:r>
              <a:rPr lang="en-GB"/>
              <a:t>GitHub Link :</a:t>
            </a:r>
            <a:br>
              <a:rPr lang="en-GB" dirty="0"/>
            </a:br>
            <a:br>
              <a:rPr lang="en-GB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63850" y="2911511"/>
            <a:ext cx="9800000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2000">
                <a:solidFill>
                  <a:srgbClr val="2C3C43"/>
                </a:solidFill>
              </a:defRPr>
            </a:pPr>
            <a:r>
              <a:rPr lang="en-US" sz="2800" b="1" dirty="0"/>
              <a:t>https://github.com/Harjith2004/Healthcare-Analysis</a:t>
            </a:r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92037" y="2661812"/>
            <a:ext cx="12192000" cy="900000"/>
          </a:xfrm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549</TotalTime>
  <Words>36</Words>
  <Application>Microsoft Office PowerPoint</Application>
  <PresentationFormat>Widescreen</PresentationFormat>
  <Paragraphs>13</Paragraphs>
  <Slides>17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Facet</vt:lpstr>
      <vt:lpstr>Healthcare Analytics for Doctor Visits</vt:lpstr>
      <vt:lpstr>PROBLEM  STATEMENT</vt:lpstr>
      <vt:lpstr>Project Description  </vt:lpstr>
      <vt:lpstr>WHO ARE THE END USERS?</vt:lpstr>
      <vt:lpstr>Technology Used</vt:lpstr>
      <vt:lpstr>Results: Distribution of Visits, Age &amp; Income</vt:lpstr>
      <vt:lpstr>Results: Gender &amp; Healthcare Support Coverage</vt:lpstr>
      <vt:lpstr>Results: Visits vs Demographics &amp; Income</vt:lpstr>
      <vt:lpstr>Results: Visits vs Health Indicators</vt:lpstr>
      <vt:lpstr>Results: Visits vs Healthcare Support &amp; Chronic Conditions</vt:lpstr>
      <vt:lpstr>Results: Correlation Between Key Variables</vt:lpstr>
      <vt:lpstr>Results: Illness &amp; Chronic Condition Interaction</vt:lpstr>
      <vt:lpstr>Student Analysis 1: Chronic Conditions &amp; Healthcare Support</vt:lpstr>
      <vt:lpstr>Student Analysis 2: Income &amp; Private Insurance</vt:lpstr>
      <vt:lpstr>Student Analysis 3: Health Status vs Visits Across Age Groups</vt:lpstr>
      <vt:lpstr>GitHub Link : 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hp</cp:lastModifiedBy>
  <cp:revision>261</cp:revision>
  <dcterms:created xsi:type="dcterms:W3CDTF">2021-07-11T13:13:15Z</dcterms:created>
  <dcterms:modified xsi:type="dcterms:W3CDTF">2026-10-23T07:02:01Z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